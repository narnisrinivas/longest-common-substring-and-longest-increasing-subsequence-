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4" r:id="rId4"/>
    <p:sldId id="265" r:id="rId5"/>
    <p:sldId id="261" r:id="rId6"/>
    <p:sldId id="262" r:id="rId7"/>
    <p:sldId id="263" r:id="rId8"/>
    <p:sldId id="275" r:id="rId9"/>
    <p:sldId id="276" r:id="rId10"/>
    <p:sldId id="277" r:id="rId11"/>
    <p:sldId id="278" r:id="rId12"/>
    <p:sldId id="279" r:id="rId13"/>
    <p:sldId id="282" r:id="rId14"/>
    <p:sldId id="283" r:id="rId15"/>
    <p:sldId id="285" r:id="rId16"/>
    <p:sldId id="288" r:id="rId17"/>
    <p:sldId id="290" r:id="rId18"/>
    <p:sldId id="266" r:id="rId19"/>
    <p:sldId id="268" r:id="rId20"/>
    <p:sldId id="273" r:id="rId21"/>
    <p:sldId id="267" r:id="rId22"/>
    <p:sldId id="269" r:id="rId23"/>
    <p:sldId id="271" r:id="rId24"/>
    <p:sldId id="27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ni Srinivas" userId="9589c020ebaf8781" providerId="LiveId" clId="{547BC964-5A23-4EC7-B084-9BB795658ACC}"/>
    <pc:docChg chg="custSel modSld">
      <pc:chgData name="Narni Srinivas" userId="9589c020ebaf8781" providerId="LiveId" clId="{547BC964-5A23-4EC7-B084-9BB795658ACC}" dt="2026-04-20T05:17:00.345" v="2" actId="21"/>
      <pc:docMkLst>
        <pc:docMk/>
      </pc:docMkLst>
      <pc:sldChg chg="addSp delSp modSp mod">
        <pc:chgData name="Narni Srinivas" userId="9589c020ebaf8781" providerId="LiveId" clId="{547BC964-5A23-4EC7-B084-9BB795658ACC}" dt="2026-04-20T05:17:00.345" v="2" actId="21"/>
        <pc:sldMkLst>
          <pc:docMk/>
          <pc:sldMk cId="1324078138" sldId="256"/>
        </pc:sldMkLst>
        <pc:spChg chg="del">
          <ac:chgData name="Narni Srinivas" userId="9589c020ebaf8781" providerId="LiveId" clId="{547BC964-5A23-4EC7-B084-9BB795658ACC}" dt="2026-04-20T05:14:40.514" v="0" actId="21"/>
          <ac:spMkLst>
            <pc:docMk/>
            <pc:sldMk cId="1324078138" sldId="256"/>
            <ac:spMk id="3" creationId="{7A2A8355-34BF-C0F3-763C-46FD25FA0E5E}"/>
          </ac:spMkLst>
        </pc:spChg>
        <pc:spChg chg="del">
          <ac:chgData name="Narni Srinivas" userId="9589c020ebaf8781" providerId="LiveId" clId="{547BC964-5A23-4EC7-B084-9BB795658ACC}" dt="2026-04-20T05:17:00.345" v="2" actId="21"/>
          <ac:spMkLst>
            <pc:docMk/>
            <pc:sldMk cId="1324078138" sldId="256"/>
            <ac:spMk id="5" creationId="{3D00D452-F3DB-8D0B-28A5-C370D9687FFD}"/>
          </ac:spMkLst>
        </pc:spChg>
        <pc:spChg chg="add del mod">
          <ac:chgData name="Narni Srinivas" userId="9589c020ebaf8781" providerId="LiveId" clId="{547BC964-5A23-4EC7-B084-9BB795658ACC}" dt="2026-04-20T05:14:44.758" v="1" actId="21"/>
          <ac:spMkLst>
            <pc:docMk/>
            <pc:sldMk cId="1324078138" sldId="256"/>
            <ac:spMk id="6" creationId="{4ADCBD22-0FA0-3AF4-9060-23CF0A85B03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79B2-5948-486A-9A1C-8D14A5022DE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3210-0FC1-4146-8023-01AE4A35C56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49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79B2-5948-486A-9A1C-8D14A5022DE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3210-0FC1-4146-8023-01AE4A35C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8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79B2-5948-486A-9A1C-8D14A5022DE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3210-0FC1-4146-8023-01AE4A35C56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02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79B2-5948-486A-9A1C-8D14A5022DE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3210-0FC1-4146-8023-01AE4A35C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118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79B2-5948-486A-9A1C-8D14A5022DE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3210-0FC1-4146-8023-01AE4A35C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387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79B2-5948-486A-9A1C-8D14A5022DE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3210-0FC1-4146-8023-01AE4A35C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754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79B2-5948-486A-9A1C-8D14A5022DE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3210-0FC1-4146-8023-01AE4A35C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681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22F79B2-5948-486A-9A1C-8D14A5022DE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E03210-0FC1-4146-8023-01AE4A35C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06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79B2-5948-486A-9A1C-8D14A5022DE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3210-0FC1-4146-8023-01AE4A35C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390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79B2-5948-486A-9A1C-8D14A5022DE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3210-0FC1-4146-8023-01AE4A35C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18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F79B2-5948-486A-9A1C-8D14A5022DE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3210-0FC1-4146-8023-01AE4A35C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362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22F79B2-5948-486A-9A1C-8D14A5022DE1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E03210-0FC1-4146-8023-01AE4A35C56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18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9A712-78B6-E16C-1D4B-1D7AFFA84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Longest Common Substring</a:t>
            </a:r>
          </a:p>
        </p:txBody>
      </p:sp>
    </p:spTree>
    <p:extLst>
      <p:ext uri="{BB962C8B-B14F-4D97-AF65-F5344CB8AC3E}">
        <p14:creationId xmlns:p14="http://schemas.microsoft.com/office/powerpoint/2010/main" val="1324078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A18A-6C46-8C3E-5DB0-2ACF600E1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r>
              <a:rPr lang="en-IN" b="1" dirty="0"/>
              <a:t>Problem Statement For Longest Common Substring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A056C3-0574-FA2E-CB24-62292A113501}"/>
              </a:ext>
            </a:extLst>
          </p:cNvPr>
          <p:cNvSpPr txBox="1">
            <a:spLocks/>
          </p:cNvSpPr>
          <p:nvPr/>
        </p:nvSpPr>
        <p:spPr>
          <a:xfrm>
            <a:off x="1036320" y="127167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EF8CB9-C5CC-495B-F3A7-387486BFA345}"/>
              </a:ext>
            </a:extLst>
          </p:cNvPr>
          <p:cNvSpPr txBox="1"/>
          <p:nvPr/>
        </p:nvSpPr>
        <p:spPr>
          <a:xfrm>
            <a:off x="-206292" y="1677186"/>
            <a:ext cx="9985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44AC5-1E29-87F6-7679-60E7F74428D0}"/>
              </a:ext>
            </a:extLst>
          </p:cNvPr>
          <p:cNvSpPr txBox="1"/>
          <p:nvPr/>
        </p:nvSpPr>
        <p:spPr>
          <a:xfrm>
            <a:off x="939159" y="1861852"/>
            <a:ext cx="1066071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Given two strings, the objective is to find the longest substring that is common to both strings.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substring is a sequence of characters that are continuous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characters must appear in the same order and without gaps in both strings.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checking all possible substrings is inefficient, Dynamic Programming is used to store intermediate results.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determine the maximum length of the longest common substring.</a:t>
            </a:r>
          </a:p>
        </p:txBody>
      </p:sp>
    </p:spTree>
    <p:extLst>
      <p:ext uri="{BB962C8B-B14F-4D97-AF65-F5344CB8AC3E}">
        <p14:creationId xmlns:p14="http://schemas.microsoft.com/office/powerpoint/2010/main" val="543438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1764-FF17-1028-D560-5BDCAD093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Brute Force Solution for Longest Common Substring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202BE35-B73C-6AB6-F48D-F3B31A88B5AB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025C7A-6B27-E520-A209-DF8A36F23D3D}"/>
              </a:ext>
            </a:extLst>
          </p:cNvPr>
          <p:cNvSpPr txBox="1"/>
          <p:nvPr/>
        </p:nvSpPr>
        <p:spPr>
          <a:xfrm>
            <a:off x="1097279" y="1737360"/>
            <a:ext cx="10058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Idea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Generate all possible substrings of the given  string.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Check which substrings are strictly increasing.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Find the maximum length among them.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EF5B8-A290-F2C7-D373-FE306398A5AA}"/>
              </a:ext>
            </a:extLst>
          </p:cNvPr>
          <p:cNvSpPr txBox="1"/>
          <p:nvPr/>
        </p:nvSpPr>
        <p:spPr>
          <a:xfrm>
            <a:off x="1097277" y="3183910"/>
            <a:ext cx="999744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Steps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Generate every possible substring (continuous elements).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For each substring: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Check if it is in strictly increasing order.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If yes, record its length.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Return the largest length found.</a:t>
            </a:r>
          </a:p>
        </p:txBody>
      </p:sp>
    </p:spTree>
    <p:extLst>
      <p:ext uri="{BB962C8B-B14F-4D97-AF65-F5344CB8AC3E}">
        <p14:creationId xmlns:p14="http://schemas.microsoft.com/office/powerpoint/2010/main" val="268349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57BA-CB02-41C0-F32B-A905E22A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b="1" dirty="0"/>
              <a:t>Continuation of Brute force for Longest Common Substring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961A8F-7A2F-2C6E-36AE-93AD897EE078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55E08-CA7D-5EBD-956B-5138610B1205}"/>
              </a:ext>
            </a:extLst>
          </p:cNvPr>
          <p:cNvSpPr txBox="1"/>
          <p:nvPr/>
        </p:nvSpPr>
        <p:spPr>
          <a:xfrm>
            <a:off x="1144490" y="1737360"/>
            <a:ext cx="1001118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Why this is Brute Force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A string  of length </a:t>
            </a:r>
            <a:r>
              <a:rPr lang="en-US" sz="2200" i="1" dirty="0"/>
              <a:t>n</a:t>
            </a:r>
            <a:r>
              <a:rPr lang="en-US" sz="2200" dirty="0"/>
              <a:t> has </a:t>
            </a:r>
            <a:r>
              <a:rPr lang="en-US" sz="2200" b="1" dirty="0"/>
              <a:t>O(n^2)</a:t>
            </a:r>
            <a:r>
              <a:rPr lang="en-US" sz="2200" dirty="0"/>
              <a:t> substrings.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Each substring of x must be checked whether it exists in y.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01561-158A-3E7B-A8E4-DD25F077F7C9}"/>
              </a:ext>
            </a:extLst>
          </p:cNvPr>
          <p:cNvSpPr txBox="1"/>
          <p:nvPr/>
        </p:nvSpPr>
        <p:spPr>
          <a:xfrm>
            <a:off x="1144489" y="2845356"/>
            <a:ext cx="6097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Time Complexity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Generate substrings of x → </a:t>
            </a:r>
            <a:r>
              <a:rPr lang="en-US" b="1" dirty="0">
                <a:latin typeface="Aptos" panose="020B0004020202020204" pitchFamily="34" charset="0"/>
              </a:rPr>
              <a:t>O(n²)</a:t>
            </a:r>
            <a:endParaRPr lang="en-US" sz="2400" b="1" dirty="0">
              <a:latin typeface="Aptos" panose="020B00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Check each in y→ </a:t>
            </a:r>
            <a:r>
              <a:rPr lang="en-US" b="1" dirty="0">
                <a:latin typeface="Aptos" panose="020B0004020202020204" pitchFamily="34" charset="0"/>
              </a:rPr>
              <a:t>O(m)</a:t>
            </a:r>
            <a:endParaRPr lang="en-US" sz="2400" b="1" dirty="0">
              <a:latin typeface="Aptos" panose="020B00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Total → </a:t>
            </a:r>
            <a:r>
              <a:rPr lang="en-US" b="1" dirty="0">
                <a:latin typeface="Aptos" panose="020B0004020202020204" pitchFamily="34" charset="0"/>
              </a:rPr>
              <a:t>O(n² × m)</a:t>
            </a:r>
            <a:endParaRPr lang="en-US" sz="2400" b="1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DC4C3-59F0-D1D2-398F-B7A555CE5543}"/>
              </a:ext>
            </a:extLst>
          </p:cNvPr>
          <p:cNvSpPr txBox="1"/>
          <p:nvPr/>
        </p:nvSpPr>
        <p:spPr>
          <a:xfrm>
            <a:off x="1097280" y="4858436"/>
            <a:ext cx="1005839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Space Complexity:</a:t>
            </a:r>
          </a:p>
          <a:p>
            <a:r>
              <a:rPr lang="en-US" sz="2400" dirty="0"/>
              <a:t>If substrings are stored → </a:t>
            </a:r>
            <a:r>
              <a:rPr lang="en-US" sz="2400" b="1" dirty="0"/>
              <a:t>O(n²)</a:t>
            </a:r>
            <a:br>
              <a:rPr lang="en-US" sz="2400" dirty="0"/>
            </a:br>
            <a:r>
              <a:rPr lang="en-US" sz="2400" dirty="0"/>
              <a:t>Otherwise can be optimized to </a:t>
            </a:r>
            <a:r>
              <a:rPr lang="en-US" sz="2400" b="1" dirty="0"/>
              <a:t>O(n)</a:t>
            </a:r>
            <a:r>
              <a:rPr lang="en-US" sz="2400" dirty="0"/>
              <a:t> temporary space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236898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598F-269A-D8D0-8EA8-D29DB90814A7}"/>
              </a:ext>
            </a:extLst>
          </p:cNvPr>
          <p:cNvSpPr txBox="1"/>
          <p:nvPr/>
        </p:nvSpPr>
        <p:spPr>
          <a:xfrm>
            <a:off x="186359" y="2680586"/>
            <a:ext cx="609765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Input:</a:t>
            </a:r>
          </a:p>
          <a:p>
            <a:r>
              <a:rPr lang="en-US" sz="2200" dirty="0">
                <a:latin typeface="Aptos" panose="020B0004020202020204" pitchFamily="34" charset="0"/>
              </a:rPr>
              <a:t>Str1 = battery </a:t>
            </a:r>
          </a:p>
          <a:p>
            <a:r>
              <a:rPr lang="en-US" sz="2200" dirty="0">
                <a:latin typeface="Aptos" panose="020B0004020202020204" pitchFamily="34" charset="0"/>
              </a:rPr>
              <a:t>Str2 = </a:t>
            </a:r>
            <a:r>
              <a:rPr lang="en-US" sz="2200" dirty="0" err="1">
                <a:latin typeface="Aptos" panose="020B0004020202020204" pitchFamily="34" charset="0"/>
              </a:rPr>
              <a:t>cattersion</a:t>
            </a:r>
            <a:endParaRPr lang="en-US" sz="22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200" b="1" dirty="0">
                <a:latin typeface="Aptos" panose="020B0004020202020204" pitchFamily="34" charset="0"/>
              </a:rPr>
              <a:t>DP RULES:</a:t>
            </a:r>
          </a:p>
          <a:p>
            <a:r>
              <a:rPr lang="en-US" sz="2200" b="1" dirty="0">
                <a:latin typeface="Aptos" panose="020B0004020202020204" pitchFamily="34" charset="0"/>
              </a:rPr>
              <a:t>1)If </a:t>
            </a:r>
            <a:r>
              <a:rPr lang="en-US" sz="2200" b="1" dirty="0" err="1">
                <a:latin typeface="Aptos" panose="020B0004020202020204" pitchFamily="34" charset="0"/>
              </a:rPr>
              <a:t>Charecters</a:t>
            </a:r>
            <a:r>
              <a:rPr lang="en-US" sz="2200" b="1" dirty="0">
                <a:latin typeface="Aptos" panose="020B0004020202020204" pitchFamily="34" charset="0"/>
              </a:rPr>
              <a:t> match:</a:t>
            </a:r>
          </a:p>
          <a:p>
            <a:r>
              <a:rPr lang="en-US" sz="2200" dirty="0" err="1">
                <a:latin typeface="Aptos" panose="020B0004020202020204" pitchFamily="34" charset="0"/>
              </a:rPr>
              <a:t>Dp</a:t>
            </a:r>
            <a:r>
              <a:rPr lang="en-US" sz="2200" dirty="0">
                <a:latin typeface="Aptos" panose="020B0004020202020204" pitchFamily="34" charset="0"/>
              </a:rPr>
              <a:t>[</a:t>
            </a:r>
            <a:r>
              <a:rPr lang="en-US" sz="2200" dirty="0" err="1">
                <a:latin typeface="Aptos" panose="020B0004020202020204" pitchFamily="34" charset="0"/>
              </a:rPr>
              <a:t>i</a:t>
            </a:r>
            <a:r>
              <a:rPr lang="en-US" sz="2200" dirty="0">
                <a:latin typeface="Aptos" panose="020B0004020202020204" pitchFamily="34" charset="0"/>
              </a:rPr>
              <a:t>][j]=</a:t>
            </a:r>
            <a:r>
              <a:rPr lang="en-US" sz="2200" dirty="0" err="1">
                <a:latin typeface="Aptos" panose="020B0004020202020204" pitchFamily="34" charset="0"/>
              </a:rPr>
              <a:t>dp</a:t>
            </a:r>
            <a:r>
              <a:rPr lang="en-US" sz="2200" dirty="0">
                <a:latin typeface="Aptos" panose="020B0004020202020204" pitchFamily="34" charset="0"/>
              </a:rPr>
              <a:t>[i-1][j-1]+1</a:t>
            </a:r>
          </a:p>
          <a:p>
            <a:endParaRPr lang="en-US" sz="2200" dirty="0">
              <a:latin typeface="Aptos" panose="020B0004020202020204" pitchFamily="34" charset="0"/>
            </a:endParaRPr>
          </a:p>
          <a:p>
            <a:r>
              <a:rPr lang="en-US" sz="2200" b="1" dirty="0">
                <a:latin typeface="Aptos" panose="020B0004020202020204" pitchFamily="34" charset="0"/>
              </a:rPr>
              <a:t>2)If not match:</a:t>
            </a:r>
          </a:p>
          <a:p>
            <a:r>
              <a:rPr lang="en-US" sz="2200" dirty="0">
                <a:latin typeface="Aptos" panose="020B0004020202020204" pitchFamily="34" charset="0"/>
              </a:rPr>
              <a:t>DP[I][J]=0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A8776C-C5BB-C003-025A-8C97B0769C85}"/>
              </a:ext>
            </a:extLst>
          </p:cNvPr>
          <p:cNvSpPr txBox="1"/>
          <p:nvPr/>
        </p:nvSpPr>
        <p:spPr>
          <a:xfrm>
            <a:off x="11000238" y="5943018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SLIDE-11</a:t>
            </a:r>
            <a:endParaRPr lang="en-IN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BF23DFFA-A1A8-98F9-A93B-82353CE918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9C62A26F-B149-EC3B-8461-02D37D9B39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09D9B-70E6-76E7-601C-2FDC91BD03E2}"/>
              </a:ext>
            </a:extLst>
          </p:cNvPr>
          <p:cNvSpPr txBox="1"/>
          <p:nvPr/>
        </p:nvSpPr>
        <p:spPr>
          <a:xfrm>
            <a:off x="135835" y="827543"/>
            <a:ext cx="60645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EXAMPLE FOR LCS USING DP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AC8517-EFA3-C2CF-2E01-D433D3B0A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681" y="1"/>
            <a:ext cx="551357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777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46D38F-0CB8-8703-C6C1-B0D046529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070" y="0"/>
            <a:ext cx="497619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1CD0CB-03F6-0FE1-04B8-7F032CBA6860}"/>
              </a:ext>
            </a:extLst>
          </p:cNvPr>
          <p:cNvSpPr txBox="1"/>
          <p:nvPr/>
        </p:nvSpPr>
        <p:spPr>
          <a:xfrm>
            <a:off x="874643" y="2763078"/>
            <a:ext cx="52213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EXAMPLE FOR LCS USING DP</a:t>
            </a:r>
          </a:p>
        </p:txBody>
      </p:sp>
    </p:spTree>
    <p:extLst>
      <p:ext uri="{BB962C8B-B14F-4D97-AF65-F5344CB8AC3E}">
        <p14:creationId xmlns:p14="http://schemas.microsoft.com/office/powerpoint/2010/main" val="352921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87BAF6-5336-D09E-0864-C474F9CA7459}"/>
              </a:ext>
            </a:extLst>
          </p:cNvPr>
          <p:cNvSpPr txBox="1"/>
          <p:nvPr/>
        </p:nvSpPr>
        <p:spPr>
          <a:xfrm>
            <a:off x="464654" y="1328675"/>
            <a:ext cx="609765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 </a:t>
            </a:r>
            <a:r>
              <a:rPr lang="en-US" sz="2200" b="1" dirty="0">
                <a:latin typeface="Aptos" panose="020B0004020202020204" pitchFamily="34" charset="0"/>
              </a:rPr>
              <a:t>Time Complexity: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Aptos" panose="020B0004020202020204" pitchFamily="34" charset="0"/>
              </a:rPr>
              <a:t>We fill an m * n DP table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Aptos" panose="020B0004020202020204" pitchFamily="34" charset="0"/>
              </a:rPr>
              <a:t>Each cell takes constant time</a:t>
            </a:r>
            <a:endParaRPr lang="en-US" sz="2200" b="1" dirty="0">
              <a:latin typeface="Aptos" panose="020B0004020202020204" pitchFamily="34" charset="0"/>
            </a:endParaRP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sz="2200" dirty="0">
                <a:latin typeface="Aptos" panose="020B0004020202020204" pitchFamily="34" charset="0"/>
              </a:rPr>
              <a:t>O(m * 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BB799-898B-8521-4BC6-9CDA89F233CD}"/>
              </a:ext>
            </a:extLst>
          </p:cNvPr>
          <p:cNvSpPr txBox="1"/>
          <p:nvPr/>
        </p:nvSpPr>
        <p:spPr>
          <a:xfrm>
            <a:off x="464654" y="2875002"/>
            <a:ext cx="609765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Aptos" panose="020B0004020202020204" pitchFamily="34" charset="0"/>
              </a:rPr>
              <a:t>Space Complexity: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Aptos" panose="020B0004020202020204" pitchFamily="34" charset="0"/>
              </a:rPr>
              <a:t>DP table of size  m * n</a:t>
            </a:r>
            <a:endParaRPr lang="en-US" sz="2200" b="1" dirty="0">
              <a:latin typeface="Aptos" panose="020B0004020202020204" pitchFamily="34" charset="0"/>
            </a:endParaRP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sz="2200" dirty="0">
                <a:latin typeface="Aptos" panose="020B0004020202020204" pitchFamily="34" charset="0"/>
              </a:rPr>
              <a:t>O(m * 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BE8DE-59FD-EB41-B9A2-430FDF7711A1}"/>
              </a:ext>
            </a:extLst>
          </p:cNvPr>
          <p:cNvSpPr txBox="1"/>
          <p:nvPr/>
        </p:nvSpPr>
        <p:spPr>
          <a:xfrm>
            <a:off x="1754298" y="414932"/>
            <a:ext cx="8683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TIME COMPLEXTIES FOR LONGEST COMMON SUBSEQUENCE</a:t>
            </a:r>
          </a:p>
        </p:txBody>
      </p:sp>
    </p:spTree>
    <p:extLst>
      <p:ext uri="{BB962C8B-B14F-4D97-AF65-F5344CB8AC3E}">
        <p14:creationId xmlns:p14="http://schemas.microsoft.com/office/powerpoint/2010/main" val="305020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FEA07-F652-8FA0-BDCF-94B0325DE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Longest common substring using </a:t>
            </a:r>
            <a:r>
              <a:rPr lang="en-IN" b="1" dirty="0" err="1"/>
              <a:t>memoization</a:t>
            </a:r>
            <a:r>
              <a:rPr lang="en-IN" b="1" dirty="0"/>
              <a:t>(top-down)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E93A6-F75F-E060-C42E-7A06F2719CA4}"/>
              </a:ext>
            </a:extLst>
          </p:cNvPr>
          <p:cNvSpPr txBox="1"/>
          <p:nvPr/>
        </p:nvSpPr>
        <p:spPr>
          <a:xfrm>
            <a:off x="1097280" y="2072166"/>
            <a:ext cx="6097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X = "ABCDA"      (length = 5)</a:t>
            </a:r>
          </a:p>
          <a:p>
            <a:r>
              <a:rPr lang="en-IN" sz="2200" dirty="0"/>
              <a:t>Y = "ZABCXDA"   (length = 7)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1C5E7-4660-8320-D09E-6F2AA162F4FC}"/>
              </a:ext>
            </a:extLst>
          </p:cNvPr>
          <p:cNvSpPr txBox="1"/>
          <p:nvPr/>
        </p:nvSpPr>
        <p:spPr>
          <a:xfrm>
            <a:off x="1097280" y="1737360"/>
            <a:ext cx="12574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/>
              <a:t>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B7999-9F81-2DFB-D11E-DCF5D468AF7C}"/>
              </a:ext>
            </a:extLst>
          </p:cNvPr>
          <p:cNvSpPr txBox="1"/>
          <p:nvPr/>
        </p:nvSpPr>
        <p:spPr>
          <a:xfrm>
            <a:off x="1071438" y="2841607"/>
            <a:ext cx="60976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 err="1"/>
              <a:t>Memoization</a:t>
            </a:r>
            <a:r>
              <a:rPr lang="en-IN" sz="2200" b="1" dirty="0"/>
              <a:t> Formula: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335C7-A2A1-3A15-6E4C-949102A4ECA0}"/>
              </a:ext>
            </a:extLst>
          </p:cNvPr>
          <p:cNvSpPr txBox="1"/>
          <p:nvPr/>
        </p:nvSpPr>
        <p:spPr>
          <a:xfrm>
            <a:off x="1097280" y="3299523"/>
            <a:ext cx="6097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L(</a:t>
            </a:r>
            <a:r>
              <a:rPr lang="en-IN" sz="2200" dirty="0" err="1"/>
              <a:t>i</a:t>
            </a:r>
            <a:r>
              <a:rPr lang="en-IN" sz="2200" dirty="0"/>
              <a:t>, j) = length of longest common substring </a:t>
            </a:r>
          </a:p>
          <a:p>
            <a:r>
              <a:rPr lang="en-IN" sz="2200" dirty="0"/>
              <a:t>          ending at X[i-1] and Y[j-1]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9D363E-A6EE-83EE-CD0D-652FD1C3E676}"/>
              </a:ext>
            </a:extLst>
          </p:cNvPr>
          <p:cNvSpPr txBox="1"/>
          <p:nvPr/>
        </p:nvSpPr>
        <p:spPr>
          <a:xfrm>
            <a:off x="1097280" y="4041667"/>
            <a:ext cx="6097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Rule:</a:t>
            </a:r>
          </a:p>
          <a:p>
            <a:pPr>
              <a:buNone/>
            </a:pPr>
            <a:r>
              <a:rPr lang="en-IN" sz="2200" dirty="0"/>
              <a:t>If characters match: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FA80A2-B4D8-F984-88CE-4F5246187DE5}"/>
              </a:ext>
            </a:extLst>
          </p:cNvPr>
          <p:cNvSpPr txBox="1"/>
          <p:nvPr/>
        </p:nvSpPr>
        <p:spPr>
          <a:xfrm>
            <a:off x="3406637" y="4626442"/>
            <a:ext cx="60976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L(</a:t>
            </a:r>
            <a:r>
              <a:rPr lang="en-IN" sz="2200" b="1" dirty="0" err="1"/>
              <a:t>i</a:t>
            </a:r>
            <a:r>
              <a:rPr lang="en-IN" sz="2200" b="1" dirty="0"/>
              <a:t>, j) = 1 + L(i-1, j-1)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88F64D-5C10-9DE3-5462-C72000715A6B}"/>
              </a:ext>
            </a:extLst>
          </p:cNvPr>
          <p:cNvSpPr txBox="1"/>
          <p:nvPr/>
        </p:nvSpPr>
        <p:spPr>
          <a:xfrm>
            <a:off x="1180271" y="5057329"/>
            <a:ext cx="60976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If not match: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E483AA-9337-2CFB-CAA7-6E37CAB7434F}"/>
              </a:ext>
            </a:extLst>
          </p:cNvPr>
          <p:cNvSpPr txBox="1"/>
          <p:nvPr/>
        </p:nvSpPr>
        <p:spPr>
          <a:xfrm>
            <a:off x="2790410" y="5322468"/>
            <a:ext cx="60976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          L(</a:t>
            </a:r>
            <a:r>
              <a:rPr lang="en-IN" sz="2200" b="1" dirty="0" err="1"/>
              <a:t>i</a:t>
            </a:r>
            <a:r>
              <a:rPr lang="en-IN" sz="2200" b="1" dirty="0"/>
              <a:t>, j) = 0</a:t>
            </a:r>
          </a:p>
        </p:txBody>
      </p:sp>
    </p:spTree>
    <p:extLst>
      <p:ext uri="{BB962C8B-B14F-4D97-AF65-F5344CB8AC3E}">
        <p14:creationId xmlns:p14="http://schemas.microsoft.com/office/powerpoint/2010/main" val="100597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EB7FA-F9CA-EE64-5888-05FB9A9D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Continuation of Longest common substring using </a:t>
            </a:r>
            <a:r>
              <a:rPr lang="en-IN" b="1" dirty="0" err="1"/>
              <a:t>Memoization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35E89-2B28-A857-2A92-AB9E1539D915}"/>
              </a:ext>
            </a:extLst>
          </p:cNvPr>
          <p:cNvSpPr txBox="1"/>
          <p:nvPr/>
        </p:nvSpPr>
        <p:spPr>
          <a:xfrm>
            <a:off x="1097280" y="1918588"/>
            <a:ext cx="60976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Creating Memo Table: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BFE2E-AA79-ACB5-5FD3-AA09458F18B0}"/>
              </a:ext>
            </a:extLst>
          </p:cNvPr>
          <p:cNvSpPr txBox="1"/>
          <p:nvPr/>
        </p:nvSpPr>
        <p:spPr>
          <a:xfrm>
            <a:off x="3774385" y="1934289"/>
            <a:ext cx="60976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Size = (n+1) × (m+1)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F69A62-C92D-31F2-792D-F8BB66EF1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091646"/>
              </p:ext>
            </p:extLst>
          </p:nvPr>
        </p:nvGraphicFramePr>
        <p:xfrm>
          <a:off x="1096963" y="2577465"/>
          <a:ext cx="10058400" cy="2560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73533174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67772633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830499769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4273148604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4159604264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914915105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556974017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972689905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301467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X\Y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375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707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210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5118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183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5720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2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170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0E0D-DAF6-2BA5-1E03-E57DEE5D5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Continuation of Longest common substring using </a:t>
            </a:r>
            <a:r>
              <a:rPr lang="en-IN" b="1" dirty="0" err="1"/>
              <a:t>Memoization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B27C6-B3AD-6C82-BB76-A017B3C946DA}"/>
              </a:ext>
            </a:extLst>
          </p:cNvPr>
          <p:cNvSpPr txBox="1"/>
          <p:nvPr/>
        </p:nvSpPr>
        <p:spPr>
          <a:xfrm>
            <a:off x="1229967" y="1883322"/>
            <a:ext cx="6097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1)A  in str1 matches A in str2</a:t>
            </a:r>
          </a:p>
          <a:p>
            <a:pPr>
              <a:buNone/>
            </a:pPr>
            <a:r>
              <a:rPr lang="en-US" sz="2200" dirty="0"/>
              <a:t>L(1,2) 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31B07A-6846-D9A8-A4A5-EFF5B3D92D66}"/>
              </a:ext>
            </a:extLst>
          </p:cNvPr>
          <p:cNvSpPr txBox="1"/>
          <p:nvPr/>
        </p:nvSpPr>
        <p:spPr>
          <a:xfrm>
            <a:off x="1229967" y="2650624"/>
            <a:ext cx="6097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2)B matches B</a:t>
            </a:r>
          </a:p>
          <a:p>
            <a:pPr>
              <a:buNone/>
            </a:pPr>
            <a:r>
              <a:rPr lang="en-US" sz="2200" dirty="0"/>
              <a:t>L(2,3) = 1 + previous =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BCBC2-6E60-5114-E679-7318CC1B630E}"/>
              </a:ext>
            </a:extLst>
          </p:cNvPr>
          <p:cNvSpPr txBox="1"/>
          <p:nvPr/>
        </p:nvSpPr>
        <p:spPr>
          <a:xfrm>
            <a:off x="1229967" y="3417926"/>
            <a:ext cx="6097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3)C matches C</a:t>
            </a:r>
          </a:p>
          <a:p>
            <a:pPr>
              <a:buNone/>
            </a:pPr>
            <a:r>
              <a:rPr lang="en-US" sz="2200" dirty="0"/>
              <a:t>L(3,4) = 1 + previous =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28B4D4-B89F-59D8-782D-272940A73045}"/>
              </a:ext>
            </a:extLst>
          </p:cNvPr>
          <p:cNvSpPr txBox="1"/>
          <p:nvPr/>
        </p:nvSpPr>
        <p:spPr>
          <a:xfrm>
            <a:off x="1229967" y="4205238"/>
            <a:ext cx="609765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+mj-lt"/>
              </a:rPr>
              <a:t>So substring</a:t>
            </a:r>
            <a:r>
              <a:rPr lang="en-US" sz="2200" dirty="0">
                <a:latin typeface="+mj-lt"/>
              </a:rPr>
              <a:t>:</a:t>
            </a:r>
          </a:p>
          <a:p>
            <a:pPr rtl="0">
              <a:buNone/>
            </a:pPr>
            <a:r>
              <a:rPr lang="en-US" sz="2200" dirty="0">
                <a:latin typeface="+mj-lt"/>
              </a:rPr>
              <a:t>ABC</a:t>
            </a:r>
          </a:p>
          <a:p>
            <a:pPr>
              <a:buNone/>
            </a:pPr>
            <a:r>
              <a:rPr lang="en-US" sz="2200" dirty="0">
                <a:latin typeface="+mj-lt"/>
              </a:rPr>
              <a:t>Length = </a:t>
            </a:r>
            <a:r>
              <a:rPr lang="en-US" sz="2200" b="1" dirty="0">
                <a:latin typeface="+mj-lt"/>
              </a:rPr>
              <a:t>3</a:t>
            </a:r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19595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7AF81-DA75-D7A5-24A0-7CE1DC82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304" y="336299"/>
            <a:ext cx="10058400" cy="1450757"/>
          </a:xfrm>
        </p:spPr>
        <p:txBody>
          <a:bodyPr/>
          <a:lstStyle/>
          <a:p>
            <a:r>
              <a:rPr lang="en-IN" b="1" dirty="0"/>
              <a:t> Complexities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A7123-0617-0076-315F-69859FF658CB}"/>
              </a:ext>
            </a:extLst>
          </p:cNvPr>
          <p:cNvSpPr txBox="1"/>
          <p:nvPr/>
        </p:nvSpPr>
        <p:spPr>
          <a:xfrm>
            <a:off x="1190211" y="1787056"/>
            <a:ext cx="60976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Time Complexity: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2609A-84FD-F651-B8CE-99C9E2ED2670}"/>
              </a:ext>
            </a:extLst>
          </p:cNvPr>
          <p:cNvSpPr txBox="1"/>
          <p:nvPr/>
        </p:nvSpPr>
        <p:spPr>
          <a:xfrm>
            <a:off x="1190211" y="2213524"/>
            <a:ext cx="609765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latin typeface="Calibri (body)"/>
              </a:rPr>
              <a:t>Let:</a:t>
            </a:r>
          </a:p>
          <a:p>
            <a:pPr rtl="0">
              <a:buNone/>
            </a:pPr>
            <a:r>
              <a:rPr lang="en-US" sz="2200" dirty="0">
                <a:latin typeface="Calibri (body)"/>
              </a:rPr>
              <a:t>n = 5</a:t>
            </a:r>
          </a:p>
          <a:p>
            <a:pPr rtl="0">
              <a:buNone/>
            </a:pPr>
            <a:r>
              <a:rPr lang="en-US" sz="2200" dirty="0">
                <a:latin typeface="Calibri (body)"/>
              </a:rPr>
              <a:t>m = 7</a:t>
            </a:r>
          </a:p>
          <a:p>
            <a:pPr>
              <a:buNone/>
            </a:pPr>
            <a:r>
              <a:rPr lang="en-US" sz="2200" b="1" dirty="0">
                <a:latin typeface="Calibri (body)"/>
              </a:rPr>
              <a:t>Total states:</a:t>
            </a:r>
          </a:p>
          <a:p>
            <a:pPr rtl="0">
              <a:buNone/>
            </a:pPr>
            <a:r>
              <a:rPr lang="en-US" sz="2200" dirty="0">
                <a:latin typeface="Calibri (body)"/>
              </a:rPr>
              <a:t>n × m</a:t>
            </a:r>
          </a:p>
          <a:p>
            <a:pPr>
              <a:buNone/>
            </a:pPr>
            <a:r>
              <a:rPr lang="en-US" sz="2200" b="1" dirty="0">
                <a:latin typeface="Calibri (body)"/>
              </a:rPr>
              <a:t>Time Complexity = O(nm)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EEBD5-FA50-FD18-0480-EC79CCFEC018}"/>
              </a:ext>
            </a:extLst>
          </p:cNvPr>
          <p:cNvSpPr txBox="1"/>
          <p:nvPr/>
        </p:nvSpPr>
        <p:spPr>
          <a:xfrm>
            <a:off x="1190211" y="4345808"/>
            <a:ext cx="609765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Space Complexity:</a:t>
            </a:r>
          </a:p>
          <a:p>
            <a:pPr>
              <a:buFont typeface="+mj-lt"/>
              <a:buAutoNum type="arabicPeriod"/>
            </a:pPr>
            <a:r>
              <a:rPr lang="en-IN" sz="2200" dirty="0"/>
              <a:t>Memo table → O(nm)</a:t>
            </a:r>
          </a:p>
          <a:p>
            <a:pPr>
              <a:buFont typeface="+mj-lt"/>
              <a:buAutoNum type="arabicPeriod"/>
            </a:pPr>
            <a:r>
              <a:rPr lang="en-IN" sz="2200" dirty="0"/>
              <a:t>Recursion stack → O(n + m)</a:t>
            </a:r>
          </a:p>
          <a:p>
            <a:pPr>
              <a:buNone/>
            </a:pPr>
            <a:r>
              <a:rPr lang="en-IN" sz="2200" dirty="0"/>
              <a:t>Total:</a:t>
            </a:r>
          </a:p>
          <a:p>
            <a:pPr>
              <a:buNone/>
            </a:pPr>
            <a:r>
              <a:rPr lang="en-IN" sz="2200" b="1" dirty="0"/>
              <a:t>Space Complexity = O(nm)</a:t>
            </a:r>
          </a:p>
        </p:txBody>
      </p:sp>
    </p:spTree>
    <p:extLst>
      <p:ext uri="{BB962C8B-B14F-4D97-AF65-F5344CB8AC3E}">
        <p14:creationId xmlns:p14="http://schemas.microsoft.com/office/powerpoint/2010/main" val="3620271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A36F-4189-6409-32BD-0C17E061E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Tabulation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24B16-5D36-83C5-745A-2B02F87A7B33}"/>
              </a:ext>
            </a:extLst>
          </p:cNvPr>
          <p:cNvSpPr txBox="1"/>
          <p:nvPr/>
        </p:nvSpPr>
        <p:spPr>
          <a:xfrm>
            <a:off x="971550" y="1904497"/>
            <a:ext cx="609765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Optimization of Tabulation:</a:t>
            </a:r>
          </a:p>
          <a:p>
            <a:pPr>
              <a:buNone/>
            </a:pPr>
            <a:r>
              <a:rPr lang="en-US" sz="2200" dirty="0"/>
              <a:t>While computing </a:t>
            </a:r>
            <a:r>
              <a:rPr lang="en-US" sz="2200" dirty="0" err="1">
                <a:latin typeface="Courier New" panose="02070309020205020404" pitchFamily="49" charset="0"/>
              </a:rPr>
              <a:t>dp</a:t>
            </a:r>
            <a:r>
              <a:rPr lang="en-US" sz="2200" dirty="0">
                <a:latin typeface="Courier New" panose="02070309020205020404" pitchFamily="49" charset="0"/>
              </a:rPr>
              <a:t>[</a:t>
            </a:r>
            <a:r>
              <a:rPr lang="en-US" sz="2200" dirty="0" err="1">
                <a:latin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</a:rPr>
              <a:t>][j]</a:t>
            </a:r>
            <a:r>
              <a:rPr lang="en-US" sz="2200" dirty="0"/>
              <a:t>,</a:t>
            </a:r>
            <a:br>
              <a:rPr lang="en-US" sz="2200" dirty="0"/>
            </a:br>
            <a:r>
              <a:rPr lang="en-US" sz="2200" dirty="0"/>
              <a:t>it is </a:t>
            </a:r>
            <a:r>
              <a:rPr lang="en-US" sz="2200" b="1" dirty="0"/>
              <a:t>not necessary to check left or up cells</a:t>
            </a:r>
            <a:r>
              <a:rPr lang="en-US" sz="2200" dirty="0"/>
              <a:t>.</a:t>
            </a:r>
          </a:p>
          <a:p>
            <a:pPr>
              <a:buNone/>
            </a:pPr>
            <a:r>
              <a:rPr lang="en-US" sz="2200" dirty="0"/>
              <a:t>We only check: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6B35BB-8CEB-DE35-B837-EC76D049CFA6}"/>
              </a:ext>
            </a:extLst>
          </p:cNvPr>
          <p:cNvSpPr txBox="1"/>
          <p:nvPr/>
        </p:nvSpPr>
        <p:spPr>
          <a:xfrm>
            <a:off x="2710897" y="3135603"/>
            <a:ext cx="60976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 err="1"/>
              <a:t>dp</a:t>
            </a:r>
            <a:r>
              <a:rPr lang="en-IN" sz="2200" dirty="0"/>
              <a:t>[i-1][j-1]   (diagonal)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DBB6BB-2B4F-54FE-E1BF-CC84C4D0059F}"/>
              </a:ext>
            </a:extLst>
          </p:cNvPr>
          <p:cNvSpPr txBox="1"/>
          <p:nvPr/>
        </p:nvSpPr>
        <p:spPr>
          <a:xfrm>
            <a:off x="971550" y="3505296"/>
            <a:ext cx="79239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Because substring must be </a:t>
            </a:r>
            <a:r>
              <a:rPr lang="en-US" sz="2200" b="1" dirty="0"/>
              <a:t>continuous</a:t>
            </a:r>
            <a:r>
              <a:rPr lang="en-US" sz="2200" dirty="0"/>
              <a:t>.</a:t>
            </a:r>
            <a:endParaRPr lang="en-IN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9F2440-EB5B-98EC-6992-31B6B11D2FC5}"/>
              </a:ext>
            </a:extLst>
          </p:cNvPr>
          <p:cNvSpPr txBox="1"/>
          <p:nvPr/>
        </p:nvSpPr>
        <p:spPr>
          <a:xfrm>
            <a:off x="971550" y="4085270"/>
            <a:ext cx="609765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/>
              <a:t>If characters don’t match :</a:t>
            </a:r>
            <a:br>
              <a:rPr lang="en-US" sz="2200" dirty="0"/>
            </a:br>
            <a:r>
              <a:rPr lang="en-US" sz="2200" dirty="0"/>
              <a:t>we directly put:</a:t>
            </a:r>
          </a:p>
          <a:p>
            <a:pPr rtl="0">
              <a:buNone/>
            </a:pPr>
            <a:r>
              <a:rPr lang="en-US" sz="2200" dirty="0">
                <a:latin typeface="+mj-lt"/>
              </a:rPr>
              <a:t>                            </a:t>
            </a:r>
            <a:r>
              <a:rPr lang="en-US" sz="2200" dirty="0" err="1">
                <a:latin typeface="+mj-lt"/>
              </a:rPr>
              <a:t>dp</a:t>
            </a:r>
            <a:r>
              <a:rPr lang="en-US" sz="2200" dirty="0">
                <a:latin typeface="+mj-lt"/>
              </a:rPr>
              <a:t>[</a:t>
            </a:r>
            <a:r>
              <a:rPr lang="en-US" sz="2200" dirty="0" err="1">
                <a:latin typeface="+mj-lt"/>
              </a:rPr>
              <a:t>i</a:t>
            </a:r>
            <a:r>
              <a:rPr lang="en-US" sz="2200" dirty="0">
                <a:latin typeface="+mj-lt"/>
              </a:rPr>
              <a:t>][j] = 0</a:t>
            </a:r>
          </a:p>
          <a:p>
            <a:pPr>
              <a:buNone/>
            </a:pPr>
            <a:r>
              <a:rPr lang="en-US" sz="2200" dirty="0"/>
              <a:t>So computation is simple and fast.</a:t>
            </a:r>
          </a:p>
        </p:txBody>
      </p:sp>
    </p:spTree>
    <p:extLst>
      <p:ext uri="{BB962C8B-B14F-4D97-AF65-F5344CB8AC3E}">
        <p14:creationId xmlns:p14="http://schemas.microsoft.com/office/powerpoint/2010/main" val="1303467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4A71A0-0EBC-46F8-D07A-B7175F6087D6}"/>
              </a:ext>
            </a:extLst>
          </p:cNvPr>
          <p:cNvSpPr txBox="1"/>
          <p:nvPr/>
        </p:nvSpPr>
        <p:spPr>
          <a:xfrm>
            <a:off x="345384" y="255897"/>
            <a:ext cx="609765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Time Complexity for Tabulation:</a:t>
            </a:r>
          </a:p>
          <a:p>
            <a:pPr>
              <a:buNone/>
            </a:pPr>
            <a:r>
              <a:rPr lang="en-US" sz="2200" b="1" dirty="0"/>
              <a:t>▪ Initialization Cost</a:t>
            </a:r>
          </a:p>
          <a:p>
            <a:pPr>
              <a:buNone/>
            </a:pPr>
            <a:r>
              <a:rPr lang="en-US" sz="2200" dirty="0"/>
              <a:t>Create DP table of size:</a:t>
            </a:r>
          </a:p>
          <a:p>
            <a:pPr rtl="0">
              <a:buNone/>
            </a:pPr>
            <a:r>
              <a:rPr lang="en-US" sz="2200" dirty="0">
                <a:latin typeface="Courier New" panose="02070309020205020404" pitchFamily="49" charset="0"/>
              </a:rPr>
              <a:t>(n+1) × (m+1)</a:t>
            </a:r>
          </a:p>
          <a:p>
            <a:pPr>
              <a:buNone/>
            </a:pPr>
            <a:r>
              <a:rPr lang="en-US" sz="2200" dirty="0"/>
              <a:t>Initialization cost:</a:t>
            </a:r>
          </a:p>
          <a:p>
            <a:pPr rtl="0">
              <a:buNone/>
            </a:pPr>
            <a:r>
              <a:rPr lang="en-US" sz="2200" dirty="0">
                <a:latin typeface="Courier New" panose="02070309020205020404" pitchFamily="49" charset="0"/>
              </a:rPr>
              <a:t>O(nm)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D186D9-65B3-34F4-4334-F57E6D89DABB}"/>
              </a:ext>
            </a:extLst>
          </p:cNvPr>
          <p:cNvSpPr txBox="1"/>
          <p:nvPr/>
        </p:nvSpPr>
        <p:spPr>
          <a:xfrm>
            <a:off x="345384" y="2379555"/>
            <a:ext cx="60976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▪ Nested Loop Cost</a:t>
            </a:r>
          </a:p>
          <a:p>
            <a:pPr>
              <a:buNone/>
            </a:pPr>
            <a:r>
              <a:rPr lang="en-US" sz="2200" dirty="0"/>
              <a:t>Outer loop → runs n times</a:t>
            </a:r>
            <a:br>
              <a:rPr lang="en-US" sz="2200" dirty="0"/>
            </a:br>
            <a:r>
              <a:rPr lang="en-US" sz="2200" dirty="0"/>
              <a:t>Inner loop → runs m times</a:t>
            </a:r>
          </a:p>
          <a:p>
            <a:pPr>
              <a:buNone/>
            </a:pPr>
            <a:r>
              <a:rPr lang="en-US" sz="2200" dirty="0"/>
              <a:t>Total executions:</a:t>
            </a:r>
          </a:p>
          <a:p>
            <a:pPr rtl="0">
              <a:buNone/>
            </a:pPr>
            <a:r>
              <a:rPr lang="en-US" sz="2200" dirty="0">
                <a:latin typeface="Courier New" panose="02070309020205020404" pitchFamily="49" charset="0"/>
              </a:rPr>
              <a:t>n × m</a:t>
            </a:r>
          </a:p>
          <a:p>
            <a:pPr>
              <a:buNone/>
            </a:pPr>
            <a:r>
              <a:rPr lang="en-US" sz="2200" dirty="0"/>
              <a:t>So,</a:t>
            </a:r>
          </a:p>
          <a:p>
            <a:pPr rtl="0">
              <a:buNone/>
            </a:pPr>
            <a:r>
              <a:rPr lang="en-US" sz="2200" dirty="0">
                <a:latin typeface="Courier New" panose="02070309020205020404" pitchFamily="49" charset="0"/>
              </a:rPr>
              <a:t>Time Complexity = O(nm)</a:t>
            </a:r>
          </a:p>
          <a:p>
            <a:pPr>
              <a:buNone/>
            </a:pPr>
            <a:r>
              <a:rPr lang="en-US" sz="2200" dirty="0"/>
              <a:t>For our example:</a:t>
            </a:r>
          </a:p>
          <a:p>
            <a:pPr rtl="0">
              <a:buNone/>
            </a:pPr>
            <a:r>
              <a:rPr lang="en-US" sz="2200" dirty="0">
                <a:latin typeface="Courier New" panose="02070309020205020404" pitchFamily="49" charset="0"/>
              </a:rPr>
              <a:t>O(5 × 7) = O(35)</a:t>
            </a:r>
          </a:p>
        </p:txBody>
      </p:sp>
    </p:spTree>
    <p:extLst>
      <p:ext uri="{BB962C8B-B14F-4D97-AF65-F5344CB8AC3E}">
        <p14:creationId xmlns:p14="http://schemas.microsoft.com/office/powerpoint/2010/main" val="1599359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832049-CD18-BE5E-8B64-E6C4EFDEBAE9}"/>
              </a:ext>
            </a:extLst>
          </p:cNvPr>
          <p:cNvSpPr txBox="1"/>
          <p:nvPr/>
        </p:nvSpPr>
        <p:spPr>
          <a:xfrm>
            <a:off x="57150" y="126041"/>
            <a:ext cx="609765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Space Complexity for Tabulation:</a:t>
            </a:r>
          </a:p>
          <a:p>
            <a:pPr>
              <a:buNone/>
            </a:pPr>
            <a:r>
              <a:rPr lang="en-US" sz="2200" dirty="0"/>
              <a:t>DP table size:</a:t>
            </a:r>
          </a:p>
          <a:p>
            <a:pPr rtl="0">
              <a:buNone/>
            </a:pPr>
            <a:r>
              <a:rPr lang="en-US" sz="2200" dirty="0">
                <a:latin typeface="Courier New" panose="02070309020205020404" pitchFamily="49" charset="0"/>
              </a:rPr>
              <a:t>(n+1)(m+1)</a:t>
            </a:r>
          </a:p>
          <a:p>
            <a:pPr>
              <a:buNone/>
            </a:pPr>
            <a:r>
              <a:rPr lang="en-US" sz="2200" dirty="0"/>
              <a:t>So,</a:t>
            </a:r>
          </a:p>
          <a:p>
            <a:pPr rtl="0">
              <a:buNone/>
            </a:pPr>
            <a:r>
              <a:rPr lang="en-US" sz="2200" dirty="0">
                <a:latin typeface="Courier New" panose="02070309020205020404" pitchFamily="49" charset="0"/>
              </a:rPr>
              <a:t>Space Complexity = O(nm)</a:t>
            </a:r>
          </a:p>
        </p:txBody>
      </p:sp>
    </p:spTree>
    <p:extLst>
      <p:ext uri="{BB962C8B-B14F-4D97-AF65-F5344CB8AC3E}">
        <p14:creationId xmlns:p14="http://schemas.microsoft.com/office/powerpoint/2010/main" val="3834727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E6670-23CD-4553-42AD-9632DA3B4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Backtracking in Tabulation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07F18-AE2A-9438-FF7D-E0F92C9C55B6}"/>
              </a:ext>
            </a:extLst>
          </p:cNvPr>
          <p:cNvSpPr txBox="1"/>
          <p:nvPr/>
        </p:nvSpPr>
        <p:spPr>
          <a:xfrm>
            <a:off x="1154430" y="2035003"/>
            <a:ext cx="609765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/>
              <a:t>To find the substring after DP is filled:</a:t>
            </a:r>
          </a:p>
          <a:p>
            <a:pPr>
              <a:buNone/>
            </a:pPr>
            <a:r>
              <a:rPr lang="en-US" sz="2200" dirty="0"/>
              <a:t>We only need: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The </a:t>
            </a:r>
            <a:r>
              <a:rPr lang="en-US" sz="2200" b="1" dirty="0"/>
              <a:t>maximum value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Its </a:t>
            </a:r>
            <a:r>
              <a:rPr lang="en-US" sz="2200" b="1" dirty="0"/>
              <a:t>position (</a:t>
            </a:r>
            <a:r>
              <a:rPr lang="en-US" sz="2200" b="1" dirty="0" err="1"/>
              <a:t>i</a:t>
            </a:r>
            <a:r>
              <a:rPr lang="en-US" sz="2200" b="1" dirty="0"/>
              <a:t>, j)</a:t>
            </a:r>
            <a:endParaRPr lang="en-US" sz="2200" dirty="0"/>
          </a:p>
          <a:p>
            <a:pPr>
              <a:buNone/>
            </a:pPr>
            <a:r>
              <a:rPr lang="en-US" sz="2200" dirty="0"/>
              <a:t>No need of extra </a:t>
            </a:r>
            <a:r>
              <a:rPr lang="en-US" sz="2200" dirty="0" err="1">
                <a:latin typeface="Courier New" panose="02070309020205020404" pitchFamily="49" charset="0"/>
              </a:rPr>
              <a:t>prev</a:t>
            </a:r>
            <a:r>
              <a:rPr lang="en-US" sz="2200" dirty="0">
                <a:latin typeface="Courier New" panose="02070309020205020404" pitchFamily="49" charset="0"/>
              </a:rPr>
              <a:t>[]</a:t>
            </a:r>
            <a:r>
              <a:rPr lang="en-US" sz="2200" dirty="0"/>
              <a:t> array</a:t>
            </a:r>
            <a:br>
              <a:rPr lang="en-US" sz="2200" dirty="0"/>
            </a:br>
            <a:r>
              <a:rPr lang="en-US" sz="2200" dirty="0"/>
              <a:t>(because substring is continuous)</a:t>
            </a:r>
          </a:p>
        </p:txBody>
      </p:sp>
    </p:spTree>
    <p:extLst>
      <p:ext uri="{BB962C8B-B14F-4D97-AF65-F5344CB8AC3E}">
        <p14:creationId xmlns:p14="http://schemas.microsoft.com/office/powerpoint/2010/main" val="2100785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5C0964-5A67-AC50-2A5B-747E69513F18}"/>
              </a:ext>
            </a:extLst>
          </p:cNvPr>
          <p:cNvSpPr txBox="1"/>
          <p:nvPr/>
        </p:nvSpPr>
        <p:spPr>
          <a:xfrm>
            <a:off x="166480" y="216790"/>
            <a:ext cx="609765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Example (HELLO, YELLOWX)</a:t>
            </a:r>
          </a:p>
          <a:p>
            <a:pPr>
              <a:buNone/>
            </a:pPr>
            <a:r>
              <a:rPr lang="en-US" sz="2200" dirty="0"/>
              <a:t>From DP table:</a:t>
            </a:r>
          </a:p>
          <a:p>
            <a:pPr>
              <a:buNone/>
            </a:pPr>
            <a:r>
              <a:rPr lang="en-US" sz="2200" dirty="0"/>
              <a:t>Maximum value = </a:t>
            </a:r>
            <a:r>
              <a:rPr lang="en-US" sz="2200" b="1" dirty="0"/>
              <a:t>4</a:t>
            </a:r>
            <a:endParaRPr lang="en-US" sz="2200" dirty="0"/>
          </a:p>
          <a:p>
            <a:pPr>
              <a:buNone/>
            </a:pPr>
            <a:r>
              <a:rPr lang="en-US" sz="2200" dirty="0"/>
              <a:t>It occurs at:</a:t>
            </a:r>
          </a:p>
          <a:p>
            <a:pPr rtl="0">
              <a:buNone/>
            </a:pPr>
            <a:r>
              <a:rPr lang="en-US" sz="2200" dirty="0" err="1">
                <a:latin typeface="Courier New" panose="02070309020205020404" pitchFamily="49" charset="0"/>
              </a:rPr>
              <a:t>dp</a:t>
            </a:r>
            <a:r>
              <a:rPr lang="en-US" sz="2200" dirty="0">
                <a:latin typeface="Courier New" panose="02070309020205020404" pitchFamily="49" charset="0"/>
              </a:rPr>
              <a:t>[5][5] = 4</a:t>
            </a:r>
          </a:p>
          <a:p>
            <a:pPr>
              <a:buNone/>
            </a:pPr>
            <a:r>
              <a:rPr lang="en-US" sz="2200" dirty="0"/>
              <a:t>This means substring length = 4</a:t>
            </a:r>
            <a:br>
              <a:rPr lang="en-US" sz="2200" dirty="0"/>
            </a:br>
            <a:r>
              <a:rPr lang="en-US" sz="2200" dirty="0"/>
              <a:t>ending at position 5 in 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CFA5F-998E-CF5D-0669-4B587AE8568A}"/>
              </a:ext>
            </a:extLst>
          </p:cNvPr>
          <p:cNvSpPr txBox="1"/>
          <p:nvPr/>
        </p:nvSpPr>
        <p:spPr>
          <a:xfrm>
            <a:off x="245993" y="2747837"/>
            <a:ext cx="60976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Backtracking is Done</a:t>
            </a:r>
          </a:p>
          <a:p>
            <a:pPr>
              <a:buNone/>
            </a:pPr>
            <a:r>
              <a:rPr lang="en-US" b="1" dirty="0"/>
              <a:t>▪ Start from maximum index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5, j = 5</a:t>
            </a:r>
          </a:p>
          <a:p>
            <a:pPr>
              <a:buNone/>
            </a:pPr>
            <a:r>
              <a:rPr lang="en-US" dirty="0"/>
              <a:t>Character = O</a:t>
            </a:r>
          </a:p>
          <a:p>
            <a:pPr>
              <a:buNone/>
            </a:pPr>
            <a:r>
              <a:rPr lang="en-US" b="1" dirty="0"/>
              <a:t>▪ Move diagonally</a:t>
            </a:r>
          </a:p>
          <a:p>
            <a:pPr>
              <a:buNone/>
            </a:pPr>
            <a:r>
              <a:rPr lang="en-US" dirty="0"/>
              <a:t>Go to: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dp</a:t>
            </a:r>
            <a:r>
              <a:rPr lang="en-US" dirty="0">
                <a:latin typeface="Courier New" panose="02070309020205020404" pitchFamily="49" charset="0"/>
              </a:rPr>
              <a:t>[4][4] = 3</a:t>
            </a:r>
          </a:p>
          <a:p>
            <a:pPr>
              <a:buNone/>
            </a:pPr>
            <a:r>
              <a:rPr lang="en-US" dirty="0"/>
              <a:t>Character = L</a:t>
            </a:r>
          </a:p>
        </p:txBody>
      </p:sp>
    </p:spTree>
    <p:extLst>
      <p:ext uri="{BB962C8B-B14F-4D97-AF65-F5344CB8AC3E}">
        <p14:creationId xmlns:p14="http://schemas.microsoft.com/office/powerpoint/2010/main" val="2324488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EBFA-2E3A-8271-E03B-16F21A118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continuation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4B772-8E9A-0881-B7F7-54FF9E0B0AFC}"/>
              </a:ext>
            </a:extLst>
          </p:cNvPr>
          <p:cNvSpPr txBox="1"/>
          <p:nvPr/>
        </p:nvSpPr>
        <p:spPr>
          <a:xfrm>
            <a:off x="1097280" y="1829523"/>
            <a:ext cx="609765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Move diagonally</a:t>
            </a:r>
          </a:p>
          <a:p>
            <a:pPr rtl="0">
              <a:buNone/>
            </a:pPr>
            <a:r>
              <a:rPr lang="en-US" sz="2200" dirty="0" err="1">
                <a:latin typeface="Courier New" panose="02070309020205020404" pitchFamily="49" charset="0"/>
              </a:rPr>
              <a:t>dp</a:t>
            </a:r>
            <a:r>
              <a:rPr lang="en-US" sz="2200" dirty="0">
                <a:latin typeface="Courier New" panose="02070309020205020404" pitchFamily="49" charset="0"/>
              </a:rPr>
              <a:t>[3][3] = 2</a:t>
            </a:r>
          </a:p>
          <a:p>
            <a:pPr>
              <a:buNone/>
            </a:pPr>
            <a:r>
              <a:rPr lang="en-US" sz="2200" dirty="0"/>
              <a:t>Character = L</a:t>
            </a:r>
          </a:p>
          <a:p>
            <a:pPr>
              <a:buNone/>
            </a:pPr>
            <a:r>
              <a:rPr lang="en-US" sz="2200" b="1" dirty="0"/>
              <a:t>▪ Move diagonally</a:t>
            </a:r>
          </a:p>
          <a:p>
            <a:pPr rtl="0">
              <a:buNone/>
            </a:pPr>
            <a:r>
              <a:rPr lang="en-US" sz="2200" dirty="0" err="1">
                <a:latin typeface="Courier New" panose="02070309020205020404" pitchFamily="49" charset="0"/>
              </a:rPr>
              <a:t>dp</a:t>
            </a:r>
            <a:r>
              <a:rPr lang="en-US" sz="2200" dirty="0">
                <a:latin typeface="Courier New" panose="02070309020205020404" pitchFamily="49" charset="0"/>
              </a:rPr>
              <a:t>[2][2] = 1</a:t>
            </a:r>
          </a:p>
          <a:p>
            <a:pPr>
              <a:buNone/>
            </a:pPr>
            <a:r>
              <a:rPr lang="en-US" sz="2200" dirty="0"/>
              <a:t>Character = E</a:t>
            </a:r>
          </a:p>
          <a:p>
            <a:pPr>
              <a:buNone/>
            </a:pPr>
            <a:r>
              <a:rPr lang="en-US" sz="2200" b="1" dirty="0"/>
              <a:t>▪ Reach value 0 → Stop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5B31D7-F871-5CD2-263E-DB54963BEF2C}"/>
              </a:ext>
            </a:extLst>
          </p:cNvPr>
          <p:cNvSpPr txBox="1"/>
          <p:nvPr/>
        </p:nvSpPr>
        <p:spPr>
          <a:xfrm>
            <a:off x="1097280" y="4230010"/>
            <a:ext cx="609765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Final Result</a:t>
            </a:r>
          </a:p>
          <a:p>
            <a:pPr>
              <a:buNone/>
            </a:pPr>
            <a:r>
              <a:rPr lang="en-US" sz="2200" dirty="0"/>
              <a:t>Collected characters (reverse order):</a:t>
            </a:r>
          </a:p>
          <a:p>
            <a:pPr rtl="0">
              <a:buNone/>
            </a:pPr>
            <a:r>
              <a:rPr lang="en-US" sz="2200" dirty="0">
                <a:latin typeface="Courier New" panose="02070309020205020404" pitchFamily="49" charset="0"/>
              </a:rPr>
              <a:t>O L </a:t>
            </a:r>
            <a:r>
              <a:rPr lang="en-US" sz="2200" dirty="0" err="1">
                <a:latin typeface="Courier New" panose="02070309020205020404" pitchFamily="49" charset="0"/>
              </a:rPr>
              <a:t>L</a:t>
            </a:r>
            <a:r>
              <a:rPr lang="en-US" sz="2200" dirty="0">
                <a:latin typeface="Courier New" panose="02070309020205020404" pitchFamily="49" charset="0"/>
              </a:rPr>
              <a:t> E</a:t>
            </a:r>
          </a:p>
          <a:p>
            <a:pPr>
              <a:buNone/>
            </a:pPr>
            <a:r>
              <a:rPr lang="en-US" sz="2200" dirty="0"/>
              <a:t>Reverse it:</a:t>
            </a:r>
          </a:p>
          <a:p>
            <a:pPr rtl="0">
              <a:buNone/>
            </a:pPr>
            <a:r>
              <a:rPr lang="en-US" sz="2200" dirty="0">
                <a:latin typeface="Courier New" panose="02070309020205020404" pitchFamily="49" charset="0"/>
              </a:rPr>
              <a:t>ELLO</a:t>
            </a:r>
          </a:p>
        </p:txBody>
      </p:sp>
    </p:spTree>
    <p:extLst>
      <p:ext uri="{BB962C8B-B14F-4D97-AF65-F5344CB8AC3E}">
        <p14:creationId xmlns:p14="http://schemas.microsoft.com/office/powerpoint/2010/main" val="1891434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970E-C49C-6077-8135-2DB3699C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BRUTE FORCE CODE FOR LONGEST COMMON SUBSTRING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66C226-9B8E-193F-65F3-974E92117FF2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505A4-1F77-71B3-0B81-C47E474D2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386" y="1806935"/>
            <a:ext cx="6839905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18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6477-D2C6-7F55-486B-6C5A4B5D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DP CODE FOR LONGEST COMMON SUB STRING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A5A73C-058B-48FD-9791-1200C9E85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079" y="1806934"/>
            <a:ext cx="5275217" cy="497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3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CC4C-6C0A-274D-7457-53A38CFD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MEMOIZATION CODE FOR LONGEST INCREASING SUBSEQUENCE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91C37-CBC3-5AC2-9FE6-61F1E50F1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139" y="1848678"/>
            <a:ext cx="5645426" cy="49198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4976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B2158-39DB-7EC7-ACF8-10502DDFE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BRUTE FORCE TIME COMPLEXITY USING LONGEST COMMON SUB STRING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B1D03FF-7968-355F-DE7E-F513EC1A3141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4ADA81-E4CC-A5A4-EBB8-4BA3A774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417" y="1942247"/>
            <a:ext cx="615315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409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69043-F16C-3F03-6687-848C722F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DP TIME COMPLEXITY FOR  LONGEST COMMON SUBSTRING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080CF4-18EC-9E51-491E-1BF470D89EDC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9DAB9D-8F0A-9B2B-4088-066991346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75" y="1898374"/>
            <a:ext cx="6267450" cy="425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29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AEAE4F-38CD-593F-BC45-F7016E62C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294318"/>
              </p:ext>
            </p:extLst>
          </p:nvPr>
        </p:nvGraphicFramePr>
        <p:xfrm>
          <a:off x="701038" y="1804848"/>
          <a:ext cx="10058404" cy="404171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14601">
                  <a:extLst>
                    <a:ext uri="{9D8B030D-6E8A-4147-A177-3AD203B41FA5}">
                      <a16:colId xmlns:a16="http://schemas.microsoft.com/office/drawing/2014/main" val="1569822954"/>
                    </a:ext>
                  </a:extLst>
                </a:gridCol>
                <a:gridCol w="2514601">
                  <a:extLst>
                    <a:ext uri="{9D8B030D-6E8A-4147-A177-3AD203B41FA5}">
                      <a16:colId xmlns:a16="http://schemas.microsoft.com/office/drawing/2014/main" val="605355029"/>
                    </a:ext>
                  </a:extLst>
                </a:gridCol>
                <a:gridCol w="2514601">
                  <a:extLst>
                    <a:ext uri="{9D8B030D-6E8A-4147-A177-3AD203B41FA5}">
                      <a16:colId xmlns:a16="http://schemas.microsoft.com/office/drawing/2014/main" val="1352463038"/>
                    </a:ext>
                  </a:extLst>
                </a:gridCol>
                <a:gridCol w="2514601">
                  <a:extLst>
                    <a:ext uri="{9D8B030D-6E8A-4147-A177-3AD203B41FA5}">
                      <a16:colId xmlns:a16="http://schemas.microsoft.com/office/drawing/2014/main" val="3955253920"/>
                    </a:ext>
                  </a:extLst>
                </a:gridCol>
              </a:tblGrid>
              <a:tr h="44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Approach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Time Complexity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Space Complexity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Explanation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48609"/>
                  </a:ext>
                </a:extLst>
              </a:tr>
              <a:tr h="1796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Brute Force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O(n^2*</a:t>
                      </a:r>
                      <a:r>
                        <a:rPr lang="en-IN" b="1" dirty="0"/>
                        <a:t>m)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O(n)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Generates all possible subsequences of the first string and checks which ones are common with the second string.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816669"/>
                  </a:ext>
                </a:extLst>
              </a:tr>
              <a:tr h="1796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Dynamic Programming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O(m * n)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O(m * n)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Uses a DP table to store LCS lengths of prefixes of both strings and reuses previously computed results.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1451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4A57A2-4BDA-C52A-6C1E-530F36533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992219"/>
              </p:ext>
            </p:extLst>
          </p:nvPr>
        </p:nvGraphicFramePr>
        <p:xfrm>
          <a:off x="701038" y="162560"/>
          <a:ext cx="11653522" cy="1123073"/>
        </p:xfrm>
        <a:graphic>
          <a:graphicData uri="http://schemas.openxmlformats.org/drawingml/2006/table">
            <a:tbl>
              <a:tblPr/>
              <a:tblGrid>
                <a:gridCol w="11653522">
                  <a:extLst>
                    <a:ext uri="{9D8B030D-6E8A-4147-A177-3AD203B41FA5}">
                      <a16:colId xmlns:a16="http://schemas.microsoft.com/office/drawing/2014/main" val="2836291179"/>
                    </a:ext>
                  </a:extLst>
                </a:gridCol>
              </a:tblGrid>
              <a:tr h="11230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Table  comparison between the two  solutions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591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295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76C704-1C09-362D-BF43-742D352D5FEE}"/>
              </a:ext>
            </a:extLst>
          </p:cNvPr>
          <p:cNvSpPr txBox="1"/>
          <p:nvPr/>
        </p:nvSpPr>
        <p:spPr>
          <a:xfrm>
            <a:off x="254000" y="511800"/>
            <a:ext cx="112369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Observation (Longest Common Substring):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Brute force approach becomes impractical for large input strings due to exponential time complexity.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Dynamic Programming significantly reduces computation by solving overlapping subproblems.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DP provides a much faster and more practical solution for finding LCS.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Hence, Dynamic Programming is preferred for real-world LCS problems.</a:t>
            </a:r>
          </a:p>
        </p:txBody>
      </p:sp>
    </p:spTree>
    <p:extLst>
      <p:ext uri="{BB962C8B-B14F-4D97-AF65-F5344CB8AC3E}">
        <p14:creationId xmlns:p14="http://schemas.microsoft.com/office/powerpoint/2010/main" val="36172983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1826</TotalTime>
  <Words>1149</Words>
  <Application>Microsoft Office PowerPoint</Application>
  <PresentationFormat>Widescreen</PresentationFormat>
  <Paragraphs>241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Calibri (body)</vt:lpstr>
      <vt:lpstr>Calibri Light</vt:lpstr>
      <vt:lpstr>Courier New</vt:lpstr>
      <vt:lpstr>Wingdings</vt:lpstr>
      <vt:lpstr>Retrospect</vt:lpstr>
      <vt:lpstr>Longest Common Substring</vt:lpstr>
      <vt:lpstr>  Problem Statement For Longest Common Substring</vt:lpstr>
      <vt:lpstr>Brute Force Solution for Longest Common Substring</vt:lpstr>
      <vt:lpstr> Continuation of Brute force for Longest Common Substring</vt:lpstr>
      <vt:lpstr>PowerPoint Presentation</vt:lpstr>
      <vt:lpstr>PowerPoint Presentation</vt:lpstr>
      <vt:lpstr>PowerPoint Presentation</vt:lpstr>
      <vt:lpstr>Longest common substring using memoization(top-down)</vt:lpstr>
      <vt:lpstr>Continuation of Longest common substring using Memoization</vt:lpstr>
      <vt:lpstr>Continuation of Longest common substring using Memoization</vt:lpstr>
      <vt:lpstr> Complexities</vt:lpstr>
      <vt:lpstr>Tabulation</vt:lpstr>
      <vt:lpstr>PowerPoint Presentation</vt:lpstr>
      <vt:lpstr>PowerPoint Presentation</vt:lpstr>
      <vt:lpstr>Backtracking in Tabulation</vt:lpstr>
      <vt:lpstr>PowerPoint Presentation</vt:lpstr>
      <vt:lpstr>Example continuation</vt:lpstr>
      <vt:lpstr>BRUTE FORCE CODE FOR LONGEST COMMON SUBSTRING</vt:lpstr>
      <vt:lpstr>DP CODE FOR LONGEST COMMON SUB STRING</vt:lpstr>
      <vt:lpstr>MEMOIZATION CODE FOR LONGEST INCREASING SUBSEQUENCE</vt:lpstr>
      <vt:lpstr>BRUTE FORCE TIME COMPLEXITY USING LONGEST COMMON SUB STRING</vt:lpstr>
      <vt:lpstr>DP TIME COMPLEXITY FOR  LONGEST COMMON SUBSTRING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sivaaditya5916@gmail.com</dc:creator>
  <cp:lastModifiedBy>Narni Srinivas</cp:lastModifiedBy>
  <cp:revision>2</cp:revision>
  <dcterms:created xsi:type="dcterms:W3CDTF">2026-02-09T15:06:50Z</dcterms:created>
  <dcterms:modified xsi:type="dcterms:W3CDTF">2026-04-20T05:17:00Z</dcterms:modified>
</cp:coreProperties>
</file>